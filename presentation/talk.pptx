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learner writes these in their own words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learner writes these in their own words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learner writes these in their own words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learner writes these in their own words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learner writes these in their own words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learner writes these in their own words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learner writes these in their own words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t>Factors Affecting Final Grades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555555"/>
                </a:solidFill>
              </a:defRPr>
            </a:pPr>
            <a:r>
              <a:t>UCI Student Performance dataset (student-mat), n = 395 students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 wrap="square"/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Question and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274320">
              <a:spcAft>
                <a:spcPts val="800"/>
              </a:spcAft>
              <a:defRPr sz="2200">
                <a:solidFill>
                  <a:srgbClr val="222222"/>
                </a:solidFill>
              </a:defRPr>
              <a:buChar char="•"/>
            </a:pPr>
            <a:r>
              <a:rPr sz="2200">
                <a:solidFill>
                  <a:srgbClr val="222222"/>
                </a:solidFill>
              </a:rPr>
              <a:t>Question: how do studytime, absences, family support and midterm grades (G1, G2) relate to final grade (G3)?</a:t>
            </a:r>
          </a:p>
          <a:p>
            <a:pPr marL="320040" indent="-274320">
              <a:spcAft>
                <a:spcPts val="800"/>
              </a:spcAft>
              <a:defRPr sz="2200">
                <a:solidFill>
                  <a:srgbClr val="222222"/>
                </a:solidFill>
              </a:defRPr>
              <a:buChar char="•"/>
            </a:pPr>
            <a:r>
              <a:rPr sz="2200">
                <a:solidFill>
                  <a:srgbClr val="222222"/>
                </a:solidFill>
              </a:rPr>
              <a:t>Data: UCI student-mat.csv, 395 rows x 33 columns, two schools (GP, MS)</a:t>
            </a:r>
          </a:p>
          <a:p>
            <a:pPr marL="320040" indent="-274320">
              <a:spcAft>
                <a:spcPts val="800"/>
              </a:spcAft>
              <a:defRPr sz="2200">
                <a:solidFill>
                  <a:srgbClr val="222222"/>
                </a:solidFill>
              </a:defRPr>
              <a:buChar char="•"/>
            </a:pPr>
            <a:r>
              <a:rPr sz="2200">
                <a:solidFill>
                  <a:srgbClr val="222222"/>
                </a:solidFill>
              </a:rPr>
              <a:t>Pipeline, four steps:</a:t>
            </a:r>
          </a:p>
          <a:p>
            <a:pPr marL="685800" indent="-274320">
              <a:spcAft>
                <a:spcPts val="800"/>
              </a:spcAft>
              <a:defRPr sz="1800">
                <a:solidFill>
                  <a:srgbClr val="222222"/>
                </a:solidFill>
              </a:defRPr>
              <a:buChar char="–"/>
            </a:pPr>
            <a:r>
              <a:rPr sz="1800">
                <a:solidFill>
                  <a:srgbClr val="222222"/>
                </a:solidFill>
              </a:rPr>
              <a:t>Load: read the raw CSV (semicolon-separated), never edited in place</a:t>
            </a:r>
          </a:p>
          <a:p>
            <a:pPr marL="685800" indent="-274320">
              <a:spcAft>
                <a:spcPts val="800"/>
              </a:spcAft>
              <a:defRPr sz="1800">
                <a:solidFill>
                  <a:srgbClr val="222222"/>
                </a:solidFill>
              </a:defRPr>
              <a:buChar char="–"/>
            </a:pPr>
            <a:r>
              <a:rPr sz="1800">
                <a:solidFill>
                  <a:srgbClr val="222222"/>
                </a:solidFill>
              </a:rPr>
              <a:t>Clean: numeric casts, yes/no to 1/0, pass_fail (G3 &gt;= 10), absence level, risk group</a:t>
            </a:r>
          </a:p>
          <a:p>
            <a:pPr marL="685800" indent="-274320">
              <a:spcAft>
                <a:spcPts val="800"/>
              </a:spcAft>
              <a:defRPr sz="1800">
                <a:solidFill>
                  <a:srgbClr val="222222"/>
                </a:solidFill>
              </a:defRPr>
              <a:buChar char="–"/>
            </a:pPr>
            <a:r>
              <a:rPr sz="1800">
                <a:solidFill>
                  <a:srgbClr val="222222"/>
                </a:solidFill>
              </a:rPr>
              <a:t>Analyze: group means and std, correlations, three charts</a:t>
            </a:r>
          </a:p>
          <a:p>
            <a:pPr marL="685800" indent="-274320">
              <a:spcAft>
                <a:spcPts val="800"/>
              </a:spcAft>
              <a:defRPr sz="1800">
                <a:solidFill>
                  <a:srgbClr val="222222"/>
                </a:solidFill>
              </a:defRPr>
              <a:buChar char="–"/>
            </a:pPr>
            <a:r>
              <a:rPr sz="1800">
                <a:solidFill>
                  <a:srgbClr val="222222"/>
                </a:solidFill>
              </a:rPr>
              <a:t>Export: cleaned_students.csv and summary.json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 wrap="square"/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Base rate: most students 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1F4E79"/>
                </a:solidFill>
              </a:rPr>
              <a:t>265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222222"/>
                </a:solidFill>
              </a:rPr>
              <a:t>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182880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555555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32918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222222"/>
                </a:solidFill>
              </a:rPr>
              <a:t>fail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1F4E79"/>
                </a:solidFill>
              </a:rPr>
              <a:t>0.671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32918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222222"/>
                </a:solidFill>
              </a:rPr>
              <a:t>pass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274320">
              <a:spcAft>
                <a:spcPts val="800"/>
              </a:spcAft>
              <a:defRPr sz="2200">
                <a:solidFill>
                  <a:srgbClr val="222222"/>
                </a:solidFill>
              </a:defRPr>
              <a:buChar char="•"/>
            </a:pPr>
            <a:r>
              <a:rPr sz="2200">
                <a:solidFill>
                  <a:srgbClr val="222222"/>
                </a:solidFill>
              </a:rPr>
              <a:t>Pass means final grade G3 &gt;= 10 (pass mark on a 0-20 scale)</a:t>
            </a:r>
          </a:p>
          <a:p>
            <a:pPr marL="320040" indent="-274320">
              <a:spcAft>
                <a:spcPts val="800"/>
              </a:spcAft>
              <a:defRPr sz="2200">
                <a:solidFill>
                  <a:srgbClr val="222222"/>
                </a:solidFill>
              </a:defRPr>
              <a:buChar char="•"/>
            </a:pPr>
            <a:r>
              <a:rPr sz="2200">
                <a:solidFill>
                  <a:srgbClr val="222222"/>
                </a:solidFill>
              </a:rPr>
              <a:t>Total n = 395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 wrap="square"/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Grades correlate strongly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274320">
              <a:spcAft>
                <a:spcPts val="800"/>
              </a:spcAft>
              <a:defRPr sz="2200">
                <a:solidFill>
                  <a:srgbClr val="222222"/>
                </a:solidFill>
              </a:defRPr>
              <a:buChar char="•"/>
            </a:pPr>
            <a:r>
              <a:rPr sz="2200">
                <a:solidFill>
                  <a:srgbClr val="222222"/>
                </a:solidFill>
              </a:rPr>
              <a:t>G2 and G3: 0.905</a:t>
            </a:r>
          </a:p>
          <a:p>
            <a:pPr marL="320040" indent="-274320">
              <a:spcAft>
                <a:spcPts val="800"/>
              </a:spcAft>
              <a:defRPr sz="2200">
                <a:solidFill>
                  <a:srgbClr val="222222"/>
                </a:solidFill>
              </a:defRPr>
              <a:buChar char="•"/>
            </a:pPr>
            <a:r>
              <a:rPr sz="2200">
                <a:solidFill>
                  <a:srgbClr val="222222"/>
                </a:solidFill>
              </a:rPr>
              <a:t>G1 and G2: 0.852</a:t>
            </a:r>
          </a:p>
          <a:p>
            <a:pPr marL="320040" indent="-274320">
              <a:spcAft>
                <a:spcPts val="800"/>
              </a:spcAft>
              <a:defRPr sz="2200">
                <a:solidFill>
                  <a:srgbClr val="222222"/>
                </a:solidFill>
              </a:defRPr>
              <a:buChar char="•"/>
            </a:pPr>
            <a:r>
              <a:rPr sz="2200">
                <a:solidFill>
                  <a:srgbClr val="222222"/>
                </a:solidFill>
              </a:rPr>
              <a:t>G1 and G3: 0.801</a:t>
            </a:r>
          </a:p>
          <a:p>
            <a:pPr marL="320040" indent="-274320">
              <a:spcAft>
                <a:spcPts val="800"/>
              </a:spcAft>
              <a:defRPr sz="2200">
                <a:solidFill>
                  <a:srgbClr val="222222"/>
                </a:solidFill>
              </a:defRPr>
              <a:buChar char="•"/>
            </a:pPr>
            <a:r>
              <a:rPr sz="2200">
                <a:solidFill>
                  <a:srgbClr val="222222"/>
                </a:solidFill>
              </a:rPr>
              <a:t>Midterm G2 is the strongest single correlate of final G3 in this data</a:t>
            </a:r>
          </a:p>
        </p:txBody>
      </p:sp>
      <p:pic>
        <p:nvPicPr>
          <p:cNvPr id="4" name="Picture 3" descr="03_heatmap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59740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 wrap="square"/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Past failures: the first failure is the biggest drop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44805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Past failures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Mean G3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11.25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8.12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6.24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5.69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31920"/>
            <a:ext cx="4480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274320">
              <a:spcAft>
                <a:spcPts val="800"/>
              </a:spcAft>
              <a:defRPr sz="1800">
                <a:solidFill>
                  <a:srgbClr val="222222"/>
                </a:solidFill>
              </a:defRPr>
              <a:buChar char="•"/>
            </a:pPr>
            <a:r>
              <a:rPr sz="1800">
                <a:solidFill>
                  <a:srgbClr val="222222"/>
                </a:solidFill>
              </a:rPr>
              <a:t>Drop from 0 to 1 failure: about -3.1</a:t>
            </a:r>
          </a:p>
          <a:p>
            <a:pPr marL="320040" indent="-274320">
              <a:spcAft>
                <a:spcPts val="800"/>
              </a:spcAft>
              <a:defRPr sz="1800">
                <a:solidFill>
                  <a:srgbClr val="222222"/>
                </a:solidFill>
              </a:defRPr>
              <a:buChar char="•"/>
            </a:pPr>
            <a:r>
              <a:rPr sz="1800">
                <a:solidFill>
                  <a:srgbClr val="222222"/>
                </a:solidFill>
              </a:rPr>
              <a:t>Drop from 1 to 2: about -1.9</a:t>
            </a:r>
          </a:p>
          <a:p>
            <a:pPr marL="320040" indent="-274320">
              <a:spcAft>
                <a:spcPts val="800"/>
              </a:spcAft>
              <a:defRPr sz="1800">
                <a:solidFill>
                  <a:srgbClr val="222222"/>
                </a:solidFill>
              </a:defRPr>
              <a:buChar char="•"/>
            </a:pPr>
            <a:r>
              <a:rPr sz="1800">
                <a:solidFill>
                  <a:srgbClr val="222222"/>
                </a:solidFill>
              </a:rPr>
              <a:t>Drop from 2 to 3: about -0.6</a:t>
            </a:r>
          </a:p>
          <a:p>
            <a:pPr marL="320040" indent="-274320">
              <a:spcAft>
                <a:spcPts val="800"/>
              </a:spcAft>
              <a:defRPr sz="1800">
                <a:solidFill>
                  <a:srgbClr val="222222"/>
                </a:solidFill>
              </a:defRPr>
              <a:buChar char="•"/>
            </a:pPr>
            <a:r>
              <a:rPr sz="1800">
                <a:solidFill>
                  <a:srgbClr val="222222"/>
                </a:solidFill>
              </a:rPr>
              <a:t>Biggest loss is the first failure, not each repeat</a:t>
            </a:r>
          </a:p>
        </p:txBody>
      </p:sp>
      <p:pic>
        <p:nvPicPr>
          <p:cNvPr id="5" name="Picture 4" descr="02_hist_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46304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 wrap="square"/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Risk groups and limits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47548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645920"/>
              </a:tblGrid>
              <a:tr h="4114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Risk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Mean G3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169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13.57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11.60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222"/>
                          </a:solidFill>
                        </a:defRPr>
                      </a:pPr>
                      <a:r>
                        <a:t>6.22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0" y="146304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274320">
              <a:spcAft>
                <a:spcPts val="800"/>
              </a:spcAft>
              <a:defRPr sz="2000">
                <a:solidFill>
                  <a:srgbClr val="222222"/>
                </a:solidFill>
              </a:defRPr>
              <a:buChar char="•"/>
            </a:pPr>
            <a:r>
              <a:rPr sz="2000">
                <a:solidFill>
                  <a:srgbClr val="222222"/>
                </a:solidFill>
              </a:rPr>
              <a:t>Main analysis: one maths class, one year (Portugal)</a:t>
            </a:r>
          </a:p>
          <a:p>
            <a:pPr marL="320040" indent="-274320">
              <a:spcAft>
                <a:spcPts val="800"/>
              </a:spcAft>
              <a:defRPr sz="2000">
                <a:solidFill>
                  <a:srgbClr val="222222"/>
                </a:solidFill>
              </a:defRPr>
              <a:buChar char="•"/>
            </a:pPr>
            <a:r>
              <a:rPr sz="2000">
                <a:solidFill>
                  <a:srgbClr val="222222"/>
                </a:solidFill>
              </a:rPr>
              <a:t>Correlation, not causation</a:t>
            </a:r>
          </a:p>
          <a:p>
            <a:pPr marL="320040" indent="-274320">
              <a:spcAft>
                <a:spcPts val="800"/>
              </a:spcAft>
              <a:defRPr sz="2000">
                <a:solidFill>
                  <a:srgbClr val="222222"/>
                </a:solidFill>
              </a:defRPr>
              <a:buChar char="•"/>
            </a:pPr>
            <a:r>
              <a:rPr sz="2000">
                <a:solidFill>
                  <a:srgbClr val="222222"/>
                </a:solidFill>
              </a:rPr>
              <a:t>Tested on 275 new students (Portuguese class, not in maths): 64 of 97 flagged failed; 64 of 70 who failed were flagged</a:t>
            </a:r>
          </a:p>
          <a:p>
            <a:pPr marL="320040" indent="-274320">
              <a:spcAft>
                <a:spcPts val="800"/>
              </a:spcAft>
              <a:defRPr sz="2000">
                <a:solidFill>
                  <a:srgbClr val="222222"/>
                </a:solidFill>
              </a:defRPr>
              <a:buChar char="•"/>
            </a:pPr>
            <a:r>
              <a:rPr sz="2000">
                <a:solidFill>
                  <a:srgbClr val="222222"/>
                </a:solidFill>
              </a:rPr>
              <a:t>The rule uses only G1, G2, failures and absences, never G3, so it can warn before the final exam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 wrap="square"/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274320">
              <a:spcAft>
                <a:spcPts val="800"/>
              </a:spcAft>
              <a:defRPr sz="2400">
                <a:solidFill>
                  <a:srgbClr val="222222"/>
                </a:solidFill>
              </a:defRPr>
              <a:buChar char="•"/>
            </a:pPr>
            <a:r>
              <a:rPr sz="2400">
                <a:solidFill>
                  <a:srgbClr val="222222"/>
                </a:solidFill>
              </a:rPr>
              <a:t>Ask why 38 students scored 0: missed the exam or dropped out?</a:t>
            </a:r>
          </a:p>
          <a:p>
            <a:pPr marL="320040" indent="-274320">
              <a:spcAft>
                <a:spcPts val="800"/>
              </a:spcAft>
              <a:defRPr sz="2400">
                <a:solidFill>
                  <a:srgbClr val="222222"/>
                </a:solidFill>
              </a:defRPr>
              <a:buChar char="•"/>
            </a:pPr>
            <a:r>
              <a:rPr sz="2400">
                <a:solidFill>
                  <a:srgbClr val="222222"/>
                </a:solidFill>
              </a:rPr>
              <a:t>Test G1 to G2 trajectories over time</a:t>
            </a:r>
          </a:p>
          <a:p>
            <a:pPr marL="320040" indent="-274320">
              <a:spcAft>
                <a:spcPts val="800"/>
              </a:spcAft>
              <a:defRPr sz="2400">
                <a:solidFill>
                  <a:srgbClr val="222222"/>
                </a:solidFill>
              </a:defRPr>
              <a:buChar char="•"/>
            </a:pPr>
            <a:r>
              <a:rPr sz="2400">
                <a:solidFill>
                  <a:srgbClr val="222222"/>
                </a:solidFill>
              </a:rPr>
              <a:t>Test the rule on another school or year before any school 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