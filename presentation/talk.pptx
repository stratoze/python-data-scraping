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notes: learner writes these in their own words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E79"/>
                </a:solidFill>
              </a:defRPr>
            </a:pPr>
            <a:r>
              <a:t>Factors Affecting Final Grades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555555"/>
                </a:solidFill>
              </a:defRPr>
            </a:pPr>
            <a:r>
              <a:t>UCI Student Performance dataset (student-mat), n = 395 students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Question and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10642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Question: how do studytime, absences, family support and midterm grades (G1, G2) relate to final grade (G3)?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Data: UCI student-mat.csv, 395 rows x 33 columns, two schools (GP, MS)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Pipeline, four steps:</a:t>
            </a:r>
          </a:p>
          <a:p>
            <a:pPr marL="68580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–"/>
            </a:pPr>
            <a:r>
              <a:rPr sz="1800">
                <a:solidFill>
                  <a:srgbClr val="222222"/>
                </a:solidFill>
              </a:rPr>
              <a:t>Load: read the raw CSV (semicolon-separated), never edited in place</a:t>
            </a:r>
          </a:p>
          <a:p>
            <a:pPr marL="68580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–"/>
            </a:pPr>
            <a:r>
              <a:rPr sz="1800">
                <a:solidFill>
                  <a:srgbClr val="222222"/>
                </a:solidFill>
              </a:rPr>
              <a:t>Clean: numeric casts, yes/no to 1/0, pass_fail (G3 &gt;= 10), absence level, risk group</a:t>
            </a:r>
          </a:p>
          <a:p>
            <a:pPr marL="68580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–"/>
            </a:pPr>
            <a:r>
              <a:rPr sz="1800">
                <a:solidFill>
                  <a:srgbClr val="222222"/>
                </a:solidFill>
              </a:rPr>
              <a:t>Analyze: group means and std, correlations, three charts</a:t>
            </a:r>
          </a:p>
          <a:p>
            <a:pPr marL="68580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–"/>
            </a:pPr>
            <a:r>
              <a:rPr sz="1800">
                <a:solidFill>
                  <a:srgbClr val="222222"/>
                </a:solidFill>
              </a:rPr>
              <a:t>Export: cleaned_students.csv and summary.json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Base rate: most students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1F4E79"/>
                </a:solidFill>
              </a:rPr>
              <a:t>265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91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pass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0" y="1828800"/>
            <a:ext cx="32918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555555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0" y="3291840"/>
            <a:ext cx="3291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fail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38160" y="1828800"/>
            <a:ext cx="3474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200" b="1">
                <a:solidFill>
                  <a:srgbClr val="1F4E79"/>
                </a:solidFill>
              </a:rPr>
              <a:t>0.671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329184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22222"/>
                </a:solidFill>
              </a:rPr>
              <a:t>pass 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38912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Pass means final grade G3 &gt;= 10 (pass mark on a 0-20 scale)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Total n = 395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Grades correlate strongly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G2 and G3: 0.905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G1 and G2: 0.852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G1 and G3: 0.801</a:t>
            </a:r>
          </a:p>
          <a:p>
            <a:pPr marL="320040" indent="-274320">
              <a:spcAft>
                <a:spcPts val="800"/>
              </a:spcAft>
              <a:defRPr sz="2200">
                <a:solidFill>
                  <a:srgbClr val="222222"/>
                </a:solidFill>
              </a:defRPr>
              <a:buChar char="•"/>
            </a:pPr>
            <a:r>
              <a:rPr sz="2200">
                <a:solidFill>
                  <a:srgbClr val="222222"/>
                </a:solidFill>
              </a:rPr>
              <a:t>Midterm G2 is the strongest single correlate of final G3 in this data</a:t>
            </a:r>
          </a:p>
        </p:txBody>
      </p:sp>
      <p:pic>
        <p:nvPicPr>
          <p:cNvPr id="4" name="Picture 3" descr="03_heatmap_co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5974080" cy="5120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Past failures: the first failure is the biggest drop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448056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914400"/>
                <a:gridCol w="1828800"/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Past failures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Mean G3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312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11.25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8.12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6.24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5.69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8640" y="393192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•"/>
            </a:pPr>
            <a:r>
              <a:rPr sz="1800">
                <a:solidFill>
                  <a:srgbClr val="222222"/>
                </a:solidFill>
              </a:rPr>
              <a:t>Drop from 0 to 1 failure: about -3.1</a:t>
            </a:r>
          </a:p>
          <a:p>
            <a:pPr marL="32004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•"/>
            </a:pPr>
            <a:r>
              <a:rPr sz="1800">
                <a:solidFill>
                  <a:srgbClr val="222222"/>
                </a:solidFill>
              </a:rPr>
              <a:t>Drop from 1 to 2: about -1.9</a:t>
            </a:r>
          </a:p>
          <a:p>
            <a:pPr marL="32004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•"/>
            </a:pPr>
            <a:r>
              <a:rPr sz="1800">
                <a:solidFill>
                  <a:srgbClr val="222222"/>
                </a:solidFill>
              </a:rPr>
              <a:t>Drop from 2 to 3: about -0.6</a:t>
            </a:r>
          </a:p>
          <a:p>
            <a:pPr marL="320040" indent="-274320">
              <a:spcAft>
                <a:spcPts val="800"/>
              </a:spcAft>
              <a:defRPr sz="1800">
                <a:solidFill>
                  <a:srgbClr val="222222"/>
                </a:solidFill>
              </a:defRPr>
              <a:buChar char="•"/>
            </a:pPr>
            <a:r>
              <a:rPr sz="1800">
                <a:solidFill>
                  <a:srgbClr val="222222"/>
                </a:solidFill>
              </a:rPr>
              <a:t>Biggest loss is the first failure, not each repeat</a:t>
            </a:r>
          </a:p>
        </p:txBody>
      </p:sp>
      <p:pic>
        <p:nvPicPr>
          <p:cNvPr id="5" name="Picture 4" descr="02_hist_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63040"/>
            <a:ext cx="6217920" cy="3886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Risk groups and limits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463040"/>
          <a:ext cx="475488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1645920"/>
              </a:tblGrid>
              <a:tr h="411480"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Risk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Mean G3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13.63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11.65</a:t>
                      </a:r>
                    </a:p>
                  </a:txBody>
                  <a:tcPr/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137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800" b="0">
                          <a:solidFill>
                            <a:srgbClr val="222222"/>
                          </a:solidFill>
                        </a:defRPr>
                      </a:pPr>
                      <a:r>
                        <a:t>5.68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669280" y="1463040"/>
            <a:ext cx="6035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2000">
                <a:solidFill>
                  <a:srgbClr val="222222"/>
                </a:solidFill>
              </a:defRPr>
              <a:buChar char="•"/>
            </a:pPr>
            <a:r>
              <a:rPr sz="2000">
                <a:solidFill>
                  <a:srgbClr val="222222"/>
                </a:solidFill>
              </a:rPr>
              <a:t>One subject and one year (Portuguese math cohort)</a:t>
            </a:r>
          </a:p>
          <a:p>
            <a:pPr marL="320040" indent="-274320">
              <a:spcAft>
                <a:spcPts val="800"/>
              </a:spcAft>
              <a:defRPr sz="2000">
                <a:solidFill>
                  <a:srgbClr val="222222"/>
                </a:solidFill>
              </a:defRPr>
              <a:buChar char="•"/>
            </a:pPr>
            <a:r>
              <a:rPr sz="2000">
                <a:solidFill>
                  <a:srgbClr val="222222"/>
                </a:solidFill>
              </a:rPr>
              <a:t>Correlation, not causation</a:t>
            </a:r>
          </a:p>
          <a:p>
            <a:pPr marL="320040" indent="-274320">
              <a:spcAft>
                <a:spcPts val="800"/>
              </a:spcAft>
              <a:defRPr sz="2000">
                <a:solidFill>
                  <a:srgbClr val="222222"/>
                </a:solidFill>
              </a:defRPr>
              <a:buChar char="•"/>
            </a:pPr>
            <a:r>
              <a:rPr sz="2000">
                <a:solidFill>
                  <a:srgbClr val="222222"/>
                </a:solidFill>
              </a:rPr>
              <a:t>No holdout test: the risk rule is not validated on new students</a:t>
            </a:r>
          </a:p>
          <a:p>
            <a:pPr marL="320040" indent="-274320">
              <a:spcAft>
                <a:spcPts val="800"/>
              </a:spcAft>
              <a:defRPr sz="2000">
                <a:solidFill>
                  <a:srgbClr val="222222"/>
                </a:solidFill>
              </a:defRPr>
              <a:buChar char="•"/>
            </a:pPr>
            <a:r>
              <a:rPr sz="2000">
                <a:solidFill>
                  <a:srgbClr val="222222"/>
                </a:solidFill>
              </a:rPr>
              <a:t>High group is defined partly by G3 (G3 &lt; 10 or 2+ failures), so its gap is not an independent prediction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320040"/>
            <a:ext cx="11064240" cy="914400"/>
          </a:xfrm>
        </p:spPr>
        <p:txBody>
          <a:bodyPr wrap="square"/>
          <a:lstStyle/>
          <a:p>
            <a:pPr>
              <a:defRPr sz="3200" b="1">
                <a:solidFill>
                  <a:srgbClr val="1F4E79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54480"/>
            <a:ext cx="11064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20040" indent="-274320">
              <a:spcAft>
                <a:spcPts val="800"/>
              </a:spcAft>
              <a:defRPr sz="2400">
                <a:solidFill>
                  <a:srgbClr val="222222"/>
                </a:solidFill>
              </a:defRPr>
              <a:buChar char="•"/>
            </a:pPr>
            <a:r>
              <a:rPr sz="2400">
                <a:solidFill>
                  <a:srgbClr val="222222"/>
                </a:solidFill>
              </a:rPr>
              <a:t>Add student-por.csv with a subject column, to test whether the pattern holds in a second subject</a:t>
            </a:r>
          </a:p>
          <a:p>
            <a:pPr marL="320040" indent="-274320">
              <a:spcAft>
                <a:spcPts val="800"/>
              </a:spcAft>
              <a:defRPr sz="2400">
                <a:solidFill>
                  <a:srgbClr val="222222"/>
                </a:solidFill>
              </a:defRPr>
              <a:buChar char="•"/>
            </a:pPr>
            <a:r>
              <a:rPr sz="2400">
                <a:solidFill>
                  <a:srgbClr val="222222"/>
                </a:solidFill>
              </a:rPr>
              <a:t>Test G1 to G2 trajectories over time</a:t>
            </a:r>
          </a:p>
          <a:p>
            <a:pPr marL="320040" indent="-274320">
              <a:spcAft>
                <a:spcPts val="800"/>
              </a:spcAft>
              <a:defRPr sz="2400">
                <a:solidFill>
                  <a:srgbClr val="222222"/>
                </a:solidFill>
              </a:defRPr>
              <a:buChar char="•"/>
            </a:pPr>
            <a:r>
              <a:rPr sz="2400">
                <a:solidFill>
                  <a:srgbClr val="222222"/>
                </a:solidFill>
              </a:rPr>
              <a:t>Validate the risk rule out-of-sample before any school use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